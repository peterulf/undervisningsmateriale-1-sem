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5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3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237A2-2CA0-1C40-9048-BB9E4CAE20D5}" type="datetimeFigureOut">
              <a:rPr lang="da-DK" smtClean="0"/>
              <a:t>15.09.2025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F1916-25DF-D64A-A68C-99B7A7B865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3300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F1916-25DF-D64A-A68C-99B7A7B8659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76427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tadata2go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da-DK" sz="5700"/>
              <a:t>Billeders brugsrettigheder og metadata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a-DK" sz="4700"/>
              <a:t>Hvad er metadata?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07" y="2626069"/>
            <a:ext cx="7886700" cy="3104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800" dirty="0"/>
              <a:t>• Data om data</a:t>
            </a:r>
          </a:p>
          <a:p>
            <a:pPr marL="0" indent="0">
              <a:buNone/>
            </a:pPr>
            <a:endParaRPr lang="da-DK" sz="2800" dirty="0"/>
          </a:p>
          <a:p>
            <a:pPr marL="0" indent="0">
              <a:buNone/>
            </a:pPr>
            <a:r>
              <a:rPr lang="da-DK" sz="2800" dirty="0"/>
              <a:t>• For billeder: tekniske, beskrivende og retslige oplysninger</a:t>
            </a:r>
          </a:p>
          <a:p>
            <a:pPr marL="0" indent="0">
              <a:buNone/>
            </a:pPr>
            <a:endParaRPr lang="da-DK" sz="2800" dirty="0"/>
          </a:p>
          <a:p>
            <a:pPr marL="0" indent="0">
              <a:buNone/>
            </a:pPr>
            <a:r>
              <a:rPr lang="da-DK" sz="2800" dirty="0"/>
              <a:t>Brug evt. </a:t>
            </a:r>
            <a:r>
              <a:rPr lang="da-DK" sz="2800" dirty="0">
                <a:hlinkClick r:id="rId2"/>
              </a:rPr>
              <a:t>metadata2go</a:t>
            </a:r>
            <a:endParaRPr lang="da-DK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a-DK" sz="4700"/>
              <a:t>Brugsrettigheder og ophavsret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40227"/>
            <a:ext cx="7886700" cy="3663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800" dirty="0"/>
              <a:t>• Ophavsret opstår automatisk ved skabelse</a:t>
            </a:r>
          </a:p>
          <a:p>
            <a:pPr marL="0" indent="0">
              <a:buNone/>
            </a:pPr>
            <a:r>
              <a:rPr lang="da-DK" sz="2800" dirty="0"/>
              <a:t>• Fotografen har som udgangspunkt alle rettigheder</a:t>
            </a:r>
          </a:p>
          <a:p>
            <a:pPr marL="0" indent="0">
              <a:buNone/>
            </a:pPr>
            <a:r>
              <a:rPr lang="da-DK" sz="2800" dirty="0"/>
              <a:t>• Typer af brugsrettigheder:</a:t>
            </a:r>
          </a:p>
          <a:p>
            <a:pPr marL="0" indent="0">
              <a:buNone/>
            </a:pPr>
            <a:r>
              <a:rPr lang="da-DK" sz="2800" dirty="0"/>
              <a:t>	– All </a:t>
            </a:r>
            <a:r>
              <a:rPr lang="da-DK" sz="2800" dirty="0" err="1"/>
              <a:t>rights</a:t>
            </a:r>
            <a:r>
              <a:rPr lang="da-DK" sz="2800" dirty="0"/>
              <a:t> </a:t>
            </a:r>
            <a:r>
              <a:rPr lang="da-DK" sz="2800" dirty="0" err="1"/>
              <a:t>reserved</a:t>
            </a:r>
            <a:endParaRPr lang="da-DK" sz="2800" dirty="0"/>
          </a:p>
          <a:p>
            <a:pPr marL="0" indent="0">
              <a:buNone/>
            </a:pPr>
            <a:r>
              <a:rPr lang="da-DK" sz="2800" dirty="0"/>
              <a:t>	– Creative Commons (CC)</a:t>
            </a:r>
          </a:p>
          <a:p>
            <a:pPr marL="0" indent="0">
              <a:buNone/>
            </a:pPr>
            <a:r>
              <a:rPr lang="da-DK" sz="2800" dirty="0"/>
              <a:t>	– Public Domain</a:t>
            </a:r>
          </a:p>
          <a:p>
            <a:pPr marL="0" indent="0">
              <a:buNone/>
            </a:pPr>
            <a:r>
              <a:rPr lang="da-DK" sz="2800" dirty="0"/>
              <a:t>	– </a:t>
            </a:r>
            <a:r>
              <a:rPr lang="da-DK" sz="2800" dirty="0" err="1"/>
              <a:t>m.m</a:t>
            </a:r>
            <a:endParaRPr lang="da-DK" sz="2800" b="1" dirty="0"/>
          </a:p>
          <a:p>
            <a:pPr marL="0" indent="0">
              <a:buNone/>
            </a:pPr>
            <a:endParaRPr lang="da-DK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a-DK" sz="4700"/>
              <a:t>Hvor ser man rettighederne?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0127"/>
            <a:ext cx="7886700" cy="35213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800" dirty="0"/>
              <a:t>• Metadatafelter: </a:t>
            </a:r>
            <a:r>
              <a:rPr lang="da-DK" sz="2800" dirty="0" err="1"/>
              <a:t>CopyrightNotice</a:t>
            </a:r>
            <a:r>
              <a:rPr lang="da-DK" sz="2800" dirty="0"/>
              <a:t>, Rights, 	</a:t>
            </a:r>
            <a:r>
              <a:rPr lang="da-DK" sz="2800" dirty="0" err="1"/>
              <a:t>UsageTerms</a:t>
            </a:r>
            <a:endParaRPr lang="da-DK" sz="2800" dirty="0"/>
          </a:p>
          <a:p>
            <a:pPr marL="0" indent="0">
              <a:buNone/>
            </a:pPr>
            <a:endParaRPr lang="da-DK" sz="2800" dirty="0"/>
          </a:p>
          <a:p>
            <a:pPr marL="0" indent="0">
              <a:buNone/>
            </a:pPr>
            <a:r>
              <a:rPr lang="da-DK" sz="2800" dirty="0"/>
              <a:t>• Platforme: Flickr, Wikimedia, </a:t>
            </a:r>
            <a:r>
              <a:rPr lang="da-DK" sz="2800" dirty="0" err="1"/>
              <a:t>Unsplash</a:t>
            </a:r>
            <a:r>
              <a:rPr lang="da-DK" sz="2800" dirty="0"/>
              <a:t> m.fl.</a:t>
            </a:r>
          </a:p>
          <a:p>
            <a:pPr marL="0" indent="0">
              <a:buNone/>
            </a:pPr>
            <a:endParaRPr lang="da-DK" sz="2800" dirty="0"/>
          </a:p>
          <a:p>
            <a:pPr marL="0" indent="0">
              <a:buNone/>
            </a:pPr>
            <a:r>
              <a:rPr lang="da-DK" sz="2800" dirty="0"/>
              <a:t>• OBS: Metadata er ofte mangelfulde – 	dobbelttjek        altid kilden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a-DK" sz="4700"/>
              <a:t>Praktisk eksempel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07" y="2505759"/>
            <a:ext cx="7886700" cy="3532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800" dirty="0"/>
              <a:t>• Tekniske data: Kamera, opløsning, farveprofil</a:t>
            </a:r>
          </a:p>
          <a:p>
            <a:pPr marL="0" indent="0">
              <a:buNone/>
            </a:pPr>
            <a:endParaRPr lang="da-DK" sz="2800" dirty="0"/>
          </a:p>
          <a:p>
            <a:pPr marL="0" indent="0">
              <a:buNone/>
            </a:pPr>
            <a:r>
              <a:rPr lang="da-DK" sz="2800" dirty="0"/>
              <a:t>• Brugsangivelse: fx CC BY-SA 4.0</a:t>
            </a:r>
          </a:p>
          <a:p>
            <a:pPr marL="0" indent="0">
              <a:buNone/>
            </a:pPr>
            <a:endParaRPr lang="da-DK" sz="2800" dirty="0"/>
          </a:p>
          <a:p>
            <a:pPr marL="0" indent="0">
              <a:buNone/>
            </a:pPr>
            <a:r>
              <a:rPr lang="da-DK" sz="2800" dirty="0"/>
              <a:t>• Nogle billeder viser kun farveprofilens 	copyright 	(fx Hewlett-Packard, 1998) – siger 	intet om 	billedets rettigheder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da-DK" sz="4700"/>
              <a:t>Huskeregler for billedbrug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71641"/>
            <a:ext cx="7886700" cy="3611445"/>
          </a:xfrm>
        </p:spPr>
        <p:txBody>
          <a:bodyPr>
            <a:normAutofit/>
          </a:bodyPr>
          <a:lstStyle/>
          <a:p>
            <a:r>
              <a:rPr lang="da-DK" sz="2800" dirty="0"/>
              <a:t>1. Tjek altid licens eller brugsrettigheder</a:t>
            </a:r>
          </a:p>
          <a:p>
            <a:r>
              <a:rPr lang="da-DK" sz="2800" dirty="0"/>
              <a:t>2. Brug kun billeder med klar tilladelse</a:t>
            </a:r>
          </a:p>
          <a:p>
            <a:r>
              <a:rPr lang="da-DK" sz="2800" dirty="0"/>
              <a:t>3. Krediter fotografen hvis licensen kræver det</a:t>
            </a:r>
          </a:p>
          <a:p>
            <a:r>
              <a:rPr lang="da-DK" sz="2800" dirty="0"/>
              <a:t>4. Metadata hjælper – men er ikke hele 			   sandheden</a:t>
            </a:r>
          </a:p>
          <a:p>
            <a:r>
              <a:rPr lang="da-DK" sz="2800" dirty="0"/>
              <a:t>5. Brug jeres egne billeder så meget som 	    		   muligt (det er også sjovere)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15E4B-CFBA-C98A-A243-B90654F0E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Lad os prøve!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8F15ACE-5983-1FD5-C993-E1D1032CA323}"/>
              </a:ext>
            </a:extLst>
          </p:cNvPr>
          <p:cNvSpPr txBox="1"/>
          <p:nvPr/>
        </p:nvSpPr>
        <p:spPr>
          <a:xfrm>
            <a:off x="1883229" y="2068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DE2BD683-F3E3-919E-03EF-166322199CCA}"/>
              </a:ext>
            </a:extLst>
          </p:cNvPr>
          <p:cNvSpPr txBox="1"/>
          <p:nvPr/>
        </p:nvSpPr>
        <p:spPr>
          <a:xfrm>
            <a:off x="762000" y="18832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7989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213</Words>
  <Application>Microsoft Macintosh PowerPoint</Application>
  <PresentationFormat>Skærmshow (4:3)</PresentationFormat>
  <Paragraphs>35</Paragraphs>
  <Slides>7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Billeders brugsrettigheder og metadata</vt:lpstr>
      <vt:lpstr>Hvad er metadata?</vt:lpstr>
      <vt:lpstr>Brugsrettigheder og ophavsret</vt:lpstr>
      <vt:lpstr>Hvor ser man rettighederne?</vt:lpstr>
      <vt:lpstr>Praktisk eksempel</vt:lpstr>
      <vt:lpstr>Huskeregler for billedbrug</vt:lpstr>
      <vt:lpstr>Lad os prøve!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Karsten Løgstrup</cp:lastModifiedBy>
  <cp:revision>2</cp:revision>
  <dcterms:created xsi:type="dcterms:W3CDTF">2013-01-27T09:14:16Z</dcterms:created>
  <dcterms:modified xsi:type="dcterms:W3CDTF">2025-09-15T11:30:05Z</dcterms:modified>
  <cp:category/>
</cp:coreProperties>
</file>