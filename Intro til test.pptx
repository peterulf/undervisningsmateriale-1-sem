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9144000" cy="5143500" type="screen16x9"/>
  <p:notesSz cx="6858000" cy="9144000"/>
  <p:embeddedFontLst>
    <p:embeddedFont>
      <p:font typeface="Bree Serif" panose="020B0604020202020204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65319D-1A23-4FDE-B027-165D8A02237D}" v="6" dt="2022-10-09T10:18:00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120" y="2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en Carlsen" userId="ugvwIaA9VI+8Bz8BQlO/HVl+or3eOOBzaUg6jhJC77c=" providerId="None" clId="Web-{A565319D-1A23-4FDE-B027-165D8A02237D}"/>
    <pc:docChg chg="modSld">
      <pc:chgData name="Steen Carlsen" userId="ugvwIaA9VI+8Bz8BQlO/HVl+or3eOOBzaUg6jhJC77c=" providerId="None" clId="Web-{A565319D-1A23-4FDE-B027-165D8A02237D}" dt="2022-10-09T10:18:00.671" v="5" actId="20577"/>
      <pc:docMkLst>
        <pc:docMk/>
      </pc:docMkLst>
      <pc:sldChg chg="modSp">
        <pc:chgData name="Steen Carlsen" userId="ugvwIaA9VI+8Bz8BQlO/HVl+or3eOOBzaUg6jhJC77c=" providerId="None" clId="Web-{A565319D-1A23-4FDE-B027-165D8A02237D}" dt="2022-10-09T10:16:55.937" v="3" actId="20577"/>
        <pc:sldMkLst>
          <pc:docMk/>
          <pc:sldMk cId="0" sldId="259"/>
        </pc:sldMkLst>
        <pc:spChg chg="mod">
          <ac:chgData name="Steen Carlsen" userId="ugvwIaA9VI+8Bz8BQlO/HVl+or3eOOBzaUg6jhJC77c=" providerId="None" clId="Web-{A565319D-1A23-4FDE-B027-165D8A02237D}" dt="2022-10-09T10:16:55.937" v="3" actId="20577"/>
          <ac:spMkLst>
            <pc:docMk/>
            <pc:sldMk cId="0" sldId="259"/>
            <ac:spMk id="75" creationId="{00000000-0000-0000-0000-000000000000}"/>
          </ac:spMkLst>
        </pc:spChg>
      </pc:sldChg>
      <pc:sldChg chg="modSp">
        <pc:chgData name="Steen Carlsen" userId="ugvwIaA9VI+8Bz8BQlO/HVl+or3eOOBzaUg6jhJC77c=" providerId="None" clId="Web-{A565319D-1A23-4FDE-B027-165D8A02237D}" dt="2022-10-09T10:18:00.671" v="5" actId="20577"/>
        <pc:sldMkLst>
          <pc:docMk/>
          <pc:sldMk cId="0" sldId="266"/>
        </pc:sldMkLst>
        <pc:spChg chg="mod">
          <ac:chgData name="Steen Carlsen" userId="ugvwIaA9VI+8Bz8BQlO/HVl+or3eOOBzaUg6jhJC77c=" providerId="None" clId="Web-{A565319D-1A23-4FDE-B027-165D8A02237D}" dt="2022-10-09T10:18:00.671" v="5" actId="20577"/>
          <ac:spMkLst>
            <pc:docMk/>
            <pc:sldMk cId="0" sldId="266"/>
            <ac:spMk id="13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f79a7af999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f79a7af999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f79a7af999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gf79a7af999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f79a7af99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gf79a7af99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79a7af99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f79a7af99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f79a7af999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f79a7af999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f79a7af999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f79a7af999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f79a7af999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f79a7af999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f79a7af999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f79a7af999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f79a7af999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f79a7af999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f7a5aeb8f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f7a5aeb8f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haslides.com/da/blog/likert-scale-examples/" TargetMode="External"/><Relationship Id="rId13" Type="http://schemas.openxmlformats.org/officeDocument/2006/relationships/hyperlink" Target="https://analytics.google.com/analytics/academy/course/6https:/analytics.google.com/analytics/academy/course/6" TargetMode="External"/><Relationship Id="rId3" Type="http://schemas.openxmlformats.org/officeDocument/2006/relationships/hyperlink" Target="https://www.uxmatters.com/mt/archives/2018/09/the-role-of-observation-in-user-research.php" TargetMode="External"/><Relationship Id="rId7" Type="http://schemas.openxmlformats.org/officeDocument/2006/relationships/hyperlink" Target="https://www.userdesign.dk/usability-test/heuristisk-evaluering/" TargetMode="External"/><Relationship Id="rId12" Type="http://schemas.openxmlformats.org/officeDocument/2006/relationships/hyperlink" Target="https://www.hotjar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ww.youtube.com/watch?v=U9ZG19XTbd4&amp;ab_channel=GV" TargetMode="External"/><Relationship Id="rId11" Type="http://schemas.openxmlformats.org/officeDocument/2006/relationships/hyperlink" Target="https://uxplanet.org/uxers-quick-guide-to-eye-tracking-edf70bffd03d" TargetMode="External"/><Relationship Id="rId5" Type="http://schemas.openxmlformats.org/officeDocument/2006/relationships/hyperlink" Target="https://www.nngroup.com/articles/thinking-aloud-the-1-usability-tool/" TargetMode="External"/><Relationship Id="rId10" Type="http://schemas.openxmlformats.org/officeDocument/2006/relationships/hyperlink" Target="https://da.wikipedia.org/wiki/A/B_test" TargetMode="External"/><Relationship Id="rId4" Type="http://schemas.openxmlformats.org/officeDocument/2006/relationships/hyperlink" Target="https://www.usability.gov/how-to-and-tools/methods/card-sorting.html" TargetMode="External"/><Relationship Id="rId9" Type="http://schemas.openxmlformats.org/officeDocument/2006/relationships/hyperlink" Target="https://fivesecondtest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tudypoints.blogspot.com/2014/11/discuss-observation-as-technique-of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medium.com/@shouldibuythisforyou/heuristics-e2f0982b435a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blog.uxtweak.com/think-aloud-online-usability-testing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medium.com/uxpress/usability-inspection-method-2-the-effectiveness-of-heuristic-evaluation-1c875513a408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ergomania.eu/eye-tracking-in-practice/" TargetMode="External"/><Relationship Id="rId5" Type="http://schemas.openxmlformats.org/officeDocument/2006/relationships/image" Target="../media/image8.png"/><Relationship Id="rId4" Type="http://schemas.openxmlformats.org/officeDocument/2006/relationships/hyperlink" Target="https://www.socialemedier.dk/split-test-5-maader-forbedre-dine-sociale-medie-annoncer/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ahaslides.com/da/blog/likert-scale-examples/" TargetMode="External"/><Relationship Id="rId13" Type="http://schemas.openxmlformats.org/officeDocument/2006/relationships/hyperlink" Target="https://analytics.google.com/analytics/academy/course/6https:/analytics.google.com/analytics/academy/course/6" TargetMode="External"/><Relationship Id="rId3" Type="http://schemas.openxmlformats.org/officeDocument/2006/relationships/hyperlink" Target="https://www.uxmatters.com/mt/archives/2018/09/the-role-of-observation-in-user-research.php" TargetMode="External"/><Relationship Id="rId7" Type="http://schemas.openxmlformats.org/officeDocument/2006/relationships/hyperlink" Target="https://www.userdesign.dk/usability-test/heuristisk-evaluering/" TargetMode="External"/><Relationship Id="rId12" Type="http://schemas.openxmlformats.org/officeDocument/2006/relationships/hyperlink" Target="https://www.hotjar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ww.youtube.com/watch?v=U9ZG19XTbd4&amp;ab_channel=GV" TargetMode="External"/><Relationship Id="rId11" Type="http://schemas.openxmlformats.org/officeDocument/2006/relationships/hyperlink" Target="https://uxplanet.org/uxers-quick-guide-to-eye-tracking-edf70bffd03d" TargetMode="External"/><Relationship Id="rId5" Type="http://schemas.openxmlformats.org/officeDocument/2006/relationships/hyperlink" Target="https://www.nngroup.com/articles/thinking-aloud-the-1-usability-tool/" TargetMode="External"/><Relationship Id="rId10" Type="http://schemas.openxmlformats.org/officeDocument/2006/relationships/hyperlink" Target="https://da.wikipedia.org/wiki/A/B_test" TargetMode="External"/><Relationship Id="rId4" Type="http://schemas.openxmlformats.org/officeDocument/2006/relationships/hyperlink" Target="https://www.usability.gov/how-to-and-tools/methods/card-sorting.html" TargetMode="External"/><Relationship Id="rId9" Type="http://schemas.openxmlformats.org/officeDocument/2006/relationships/hyperlink" Target="https://fivesecondtes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A5AF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da">
                <a:latin typeface="Bree Serif"/>
                <a:ea typeface="Bree Serif"/>
                <a:cs typeface="Bree Serif"/>
                <a:sym typeface="Bree Serif"/>
              </a:rPr>
              <a:t>Introduktion </a:t>
            </a:r>
            <a:endParaRPr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da" sz="3600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UX test</a:t>
            </a:r>
            <a:endParaRPr sz="3600">
              <a:solidFill>
                <a:srgbClr val="FFFFFF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A5A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2274900" y="773200"/>
            <a:ext cx="53703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4000" b="1">
                <a:solidFill>
                  <a:schemeClr val="lt1"/>
                </a:solidFill>
              </a:rPr>
              <a:t>Hvorfor teste?</a:t>
            </a:r>
            <a:endParaRPr sz="40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2400" b="1">
                <a:solidFill>
                  <a:schemeClr val="lt1"/>
                </a:solidFill>
              </a:rPr>
              <a:t>Vi vil gerne forstå brugerens behov og deres adfærd.</a:t>
            </a:r>
            <a:endParaRPr sz="24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2400" b="1">
                <a:solidFill>
                  <a:schemeClr val="lt1"/>
                </a:solidFill>
              </a:rPr>
              <a:t>Derfor er det en UX’ers opgave at: måle, teste og udvikle undersøgelser der giver os et reelt billede af brugerens adfærd.</a:t>
            </a:r>
            <a:endParaRPr sz="24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A5AF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/>
        </p:nvSpPr>
        <p:spPr>
          <a:xfrm>
            <a:off x="2424500" y="636850"/>
            <a:ext cx="60351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4000" b="1">
                <a:solidFill>
                  <a:schemeClr val="lt1"/>
                </a:solidFill>
              </a:rPr>
              <a:t>Hvordan?</a:t>
            </a:r>
            <a:endParaRPr sz="24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2400" b="1">
                <a:solidFill>
                  <a:schemeClr val="lt1"/>
                </a:solidFill>
              </a:rPr>
              <a:t>Der findes mange metoder til at få indsigt og forståelse for menneskers adfærd ift. digitale devices... </a:t>
            </a:r>
            <a:endParaRPr sz="24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2400" b="1">
                <a:solidFill>
                  <a:schemeClr val="lt1"/>
                </a:solidFill>
              </a:rPr>
              <a:t>Metoderne kan både være kvalitative eller kvantitative og vi kan indsamle dataen på mange måder.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i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ctrTitle"/>
          </p:nvPr>
        </p:nvSpPr>
        <p:spPr>
          <a:xfrm>
            <a:off x="311700" y="55553"/>
            <a:ext cx="8520600" cy="12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da" sz="3000">
                <a:latin typeface="Bree Serif"/>
                <a:ea typeface="Bree Serif"/>
                <a:cs typeface="Bree Serif"/>
                <a:sym typeface="Bree Serif"/>
              </a:rPr>
              <a:t>Eksempler på metoder til at få viden om brugerens adfærd;</a:t>
            </a:r>
            <a:endParaRPr sz="3000">
              <a:solidFill>
                <a:schemeClr val="accen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74" name="Google Shape;74;p17"/>
          <p:cNvSpPr txBox="1">
            <a:spLocks noGrp="1"/>
          </p:cNvSpPr>
          <p:nvPr>
            <p:ph type="subTitle" idx="1"/>
          </p:nvPr>
        </p:nvSpPr>
        <p:spPr>
          <a:xfrm>
            <a:off x="809100" y="1405850"/>
            <a:ext cx="7611300" cy="28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Observation </a:t>
            </a:r>
            <a:r>
              <a:rPr lang="da" sz="1400" u="sng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 link</a:t>
            </a:r>
            <a:endParaRPr sz="2400" b="1" dirty="0">
              <a:solidFill>
                <a:schemeClr val="accent3"/>
              </a:solidFill>
              <a:highlight>
                <a:schemeClr val="lt1"/>
              </a:highlight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Kortsortering </a:t>
            </a:r>
            <a:r>
              <a:rPr lang="da" sz="1400" u="sng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 link</a:t>
            </a:r>
            <a:endParaRPr sz="2400" b="1" dirty="0">
              <a:solidFill>
                <a:schemeClr val="accent3"/>
              </a:solidFill>
              <a:highlight>
                <a:schemeClr val="lt1"/>
              </a:highlight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Tænkehøjt test </a:t>
            </a:r>
            <a:r>
              <a:rPr lang="da" sz="1400" u="sng" dirty="0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 link</a:t>
            </a:r>
            <a:endParaRPr sz="2400" b="1" dirty="0">
              <a:solidFill>
                <a:schemeClr val="accent3"/>
              </a:solidFill>
              <a:highlight>
                <a:schemeClr val="lt1"/>
              </a:highlight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Five-act-interview </a:t>
            </a:r>
            <a:r>
              <a:rPr lang="da" sz="1400" u="sng" dirty="0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 link</a:t>
            </a:r>
            <a:endParaRPr sz="2400" b="1" dirty="0">
              <a:solidFill>
                <a:schemeClr val="accent3"/>
              </a:solidFill>
              <a:highlight>
                <a:schemeClr val="lt1"/>
              </a:highlight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Heuristisk evaluering </a:t>
            </a:r>
            <a:r>
              <a:rPr lang="da" sz="1400" u="sng" dirty="0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 lin</a:t>
            </a:r>
            <a:r>
              <a:rPr lang="da" sz="1400" u="sng" dirty="0">
                <a:solidFill>
                  <a:schemeClr val="accent5"/>
                </a:solidFill>
              </a:rPr>
              <a:t>k</a:t>
            </a:r>
            <a:endParaRPr sz="2400" b="1" dirty="0">
              <a:solidFill>
                <a:schemeClr val="accent3"/>
              </a:solidFill>
              <a:highlight>
                <a:schemeClr val="lt1"/>
              </a:highlight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Likert-skala </a:t>
            </a:r>
            <a:r>
              <a:rPr lang="da" sz="1400" u="sng" dirty="0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 link</a:t>
            </a:r>
            <a:endParaRPr sz="2400" b="1" dirty="0">
              <a:solidFill>
                <a:schemeClr val="accent3"/>
              </a:solidFill>
              <a:highlight>
                <a:schemeClr val="lt1"/>
              </a:highlight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5 sek. test </a:t>
            </a:r>
            <a:r>
              <a:rPr lang="da" sz="1400" u="sng" dirty="0">
                <a:solidFill>
                  <a:schemeClr val="accent5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 link</a:t>
            </a:r>
            <a:endParaRPr sz="2400" b="1" dirty="0">
              <a:solidFill>
                <a:schemeClr val="accent3"/>
              </a:solidFill>
              <a:highlight>
                <a:schemeClr val="lt1"/>
              </a:highlight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A/B spilt test </a:t>
            </a:r>
            <a:r>
              <a:rPr lang="da" sz="1400" u="sng" dirty="0">
                <a:solidFill>
                  <a:schemeClr val="accent5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 link</a:t>
            </a:r>
            <a:endParaRPr sz="2400" b="1" dirty="0">
              <a:solidFill>
                <a:schemeClr val="accent3"/>
              </a:solidFill>
              <a:highlight>
                <a:schemeClr val="lt1"/>
              </a:highlight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Eye tracking </a:t>
            </a:r>
            <a:r>
              <a:rPr lang="da" sz="1400" u="sng" dirty="0">
                <a:solidFill>
                  <a:schemeClr val="accent5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 link</a:t>
            </a:r>
            <a:b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</a:br>
            <a:endParaRPr sz="2400" b="1" dirty="0">
              <a:solidFill>
                <a:schemeClr val="accent3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3"/>
              </a:solidFill>
              <a:highlight>
                <a:schemeClr val="lt1"/>
              </a:highlight>
            </a:endParaRPr>
          </a:p>
        </p:txBody>
      </p:sp>
      <p:sp>
        <p:nvSpPr>
          <p:cNvPr id="75" name="Google Shape;75;p17"/>
          <p:cNvSpPr txBox="1">
            <a:spLocks noGrp="1"/>
          </p:cNvSpPr>
          <p:nvPr>
            <p:ph type="subTitle" idx="1"/>
          </p:nvPr>
        </p:nvSpPr>
        <p:spPr>
          <a:xfrm>
            <a:off x="5507800" y="1234075"/>
            <a:ext cx="4034100" cy="1030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" sz="2400" b="1" dirty="0" err="1">
                <a:solidFill>
                  <a:schemeClr val="accent3"/>
                </a:solidFill>
                <a:highlight>
                  <a:schemeClr val="lt1"/>
                </a:highlight>
              </a:rPr>
              <a:t>Hotjar</a:t>
            </a:r>
            <a: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 </a:t>
            </a:r>
            <a:r>
              <a:rPr lang="da" sz="1400" u="sng" dirty="0">
                <a:solidFill>
                  <a:schemeClr val="accent5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 link</a:t>
            </a:r>
            <a:endParaRPr sz="2400" b="1" dirty="0">
              <a:solidFill>
                <a:schemeClr val="accent5"/>
              </a:solidFill>
              <a:highlight>
                <a:schemeClr val="lt1"/>
              </a:highlight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" sz="2400" b="1" strike="sngStrike" dirty="0">
                <a:solidFill>
                  <a:schemeClr val="accent3"/>
                </a:solidFill>
                <a:highlight>
                  <a:schemeClr val="lt1"/>
                </a:highlight>
              </a:rPr>
              <a:t>Google </a:t>
            </a:r>
            <a:r>
              <a:rPr lang="da" sz="2400" b="1" dirty="0" err="1">
                <a:solidFill>
                  <a:schemeClr val="accent3"/>
                </a:solidFill>
                <a:highlight>
                  <a:schemeClr val="lt1"/>
                </a:highlight>
              </a:rPr>
              <a:t>analytics</a:t>
            </a:r>
            <a: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 </a:t>
            </a:r>
            <a:r>
              <a:rPr lang="da" sz="1400" u="sng" dirty="0">
                <a:solidFill>
                  <a:schemeClr val="accent5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 link</a:t>
            </a:r>
            <a:endParaRPr sz="1400" dirty="0"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accent3"/>
              </a:solidFill>
              <a:highlight>
                <a:schemeClr val="lt1"/>
              </a:highlight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5312075" y="4062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311700" y="324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latin typeface="Bree Serif"/>
                <a:ea typeface="Bree Serif"/>
                <a:cs typeface="Bree Serif"/>
                <a:sym typeface="Bree Serif"/>
              </a:rPr>
              <a:t>Observations-research</a:t>
            </a:r>
            <a:endParaRPr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4887100" y="1293225"/>
            <a:ext cx="3621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a" sz="1500"/>
              <a:t>Observations-research handler om at indsamle data, viden og indsigter gennem observationer af en adfærd.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a" sz="1500"/>
              <a:t>Fokus er på, direkte at aflæse og observere træk ved konkrete observationer.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a" sz="1500"/>
              <a:t>Mens man observerer, noterer man sine oplevelser.</a:t>
            </a:r>
            <a:endParaRPr sz="1500"/>
          </a:p>
        </p:txBody>
      </p:sp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775" y="1561825"/>
            <a:ext cx="4201750" cy="28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437775" y="4495275"/>
            <a:ext cx="2383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sz="900" u="sng">
                <a:solidFill>
                  <a:schemeClr val="hlink"/>
                </a:solidFill>
                <a:hlinkClick r:id="rId4"/>
              </a:rPr>
              <a:t>Billede ref</a:t>
            </a:r>
            <a:endParaRPr sz="9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title"/>
          </p:nvPr>
        </p:nvSpPr>
        <p:spPr>
          <a:xfrm>
            <a:off x="311700" y="324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latin typeface="Bree Serif"/>
                <a:ea typeface="Bree Serif"/>
                <a:cs typeface="Bree Serif"/>
                <a:sym typeface="Bree Serif"/>
              </a:rPr>
              <a:t>Kortsortering</a:t>
            </a:r>
            <a:endParaRPr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1"/>
          </p:nvPr>
        </p:nvSpPr>
        <p:spPr>
          <a:xfrm>
            <a:off x="5942400" y="1033150"/>
            <a:ext cx="2841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a" sz="1500"/>
              <a:t>Hjælper med at evaluere og sortere informationsarkitekturen på et site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a" sz="1500"/>
              <a:t>Hjælper os med at forstå hvordan brugeren kategoriserer indhold..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33150"/>
            <a:ext cx="5686100" cy="366377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9"/>
          <p:cNvSpPr txBox="1"/>
          <p:nvPr/>
        </p:nvSpPr>
        <p:spPr>
          <a:xfrm>
            <a:off x="76200" y="4773125"/>
            <a:ext cx="3633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u="sng">
                <a:solidFill>
                  <a:schemeClr val="hlink"/>
                </a:solidFill>
                <a:hlinkClick r:id="rId4"/>
              </a:rPr>
              <a:t>Billede link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11700" y="324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latin typeface="Bree Serif"/>
                <a:ea typeface="Bree Serif"/>
                <a:cs typeface="Bree Serif"/>
                <a:sym typeface="Bree Serif"/>
              </a:rPr>
              <a:t>Tænke-højt test og five-act-interview</a:t>
            </a:r>
            <a:endParaRPr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4114950" y="1256600"/>
            <a:ext cx="4667700" cy="30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a" sz="1500"/>
              <a:t>Anvender dele fra observations research - vi observerer bla. brugeren.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Char char="●"/>
            </a:pPr>
            <a:r>
              <a:rPr lang="da" sz="1500">
                <a:solidFill>
                  <a:srgbClr val="666666"/>
                </a:solidFill>
              </a:rPr>
              <a:t>Vi bruger den til at finde ud af, hvad brugerne tænker om vores produkt (usability)</a:t>
            </a:r>
            <a:endParaRPr sz="1500">
              <a:solidFill>
                <a:srgbClr val="666666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Char char="●"/>
            </a:pPr>
            <a:r>
              <a:rPr lang="da" sz="1500">
                <a:solidFill>
                  <a:srgbClr val="666666"/>
                </a:solidFill>
              </a:rPr>
              <a:t>Under testen er der en; test facilitator, en testperson og en observatør</a:t>
            </a:r>
            <a:endParaRPr sz="1500">
              <a:solidFill>
                <a:srgbClr val="666666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Char char="●"/>
            </a:pPr>
            <a:r>
              <a:rPr lang="da" sz="1500">
                <a:solidFill>
                  <a:srgbClr val="666666"/>
                </a:solidFill>
              </a:rPr>
              <a:t>Vi beder brugeren om at udføre en række opgaver på vores site og sige alt hvad han/hun tænker undervejs - målet er at få testpersonen til at snakke!</a:t>
            </a:r>
            <a:endParaRPr sz="1500">
              <a:solidFill>
                <a:srgbClr val="666666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Char char="●"/>
            </a:pPr>
            <a:r>
              <a:rPr lang="da" sz="1500">
                <a:solidFill>
                  <a:srgbClr val="666666"/>
                </a:solidFill>
              </a:rPr>
              <a:t>Optages med kamera eller screencast software</a:t>
            </a:r>
            <a:endParaRPr sz="1500">
              <a:solidFill>
                <a:srgbClr val="666666"/>
              </a:solidFill>
            </a:endParaRPr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14" y="1479700"/>
            <a:ext cx="3562875" cy="26249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311725" y="4246500"/>
            <a:ext cx="310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u="sng">
                <a:solidFill>
                  <a:schemeClr val="hlink"/>
                </a:solidFill>
                <a:hlinkClick r:id="rId4"/>
              </a:rPr>
              <a:t>Billede ref</a:t>
            </a:r>
            <a:endParaRPr/>
          </a:p>
        </p:txBody>
      </p:sp>
      <p:sp>
        <p:nvSpPr>
          <p:cNvPr id="101" name="Google Shape;101;p20"/>
          <p:cNvSpPr txBox="1"/>
          <p:nvPr/>
        </p:nvSpPr>
        <p:spPr>
          <a:xfrm>
            <a:off x="2043788" y="4246500"/>
            <a:ext cx="9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311700" y="324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dirty="0">
                <a:latin typeface="Bree Serif"/>
                <a:ea typeface="Bree Serif"/>
                <a:cs typeface="Bree Serif"/>
                <a:sym typeface="Bree Serif"/>
              </a:rPr>
              <a:t>heuristisk evaluering</a:t>
            </a:r>
            <a:endParaRPr dirty="0"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4241700" y="1305000"/>
            <a:ext cx="459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Char char="●"/>
            </a:pPr>
            <a:r>
              <a:rPr lang="da" sz="1500">
                <a:solidFill>
                  <a:srgbClr val="666666"/>
                </a:solidFill>
              </a:rPr>
              <a:t>Ved en ekspertvurdering laver man en liste, der identificerer udfordringerne ved et website, og derefter vurderer man alvorligheden af den enkelte observation med et tal fra 1-4.</a:t>
            </a:r>
            <a:endParaRPr sz="1500">
              <a:solidFill>
                <a:srgbClr val="666666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Char char="●"/>
            </a:pPr>
            <a:r>
              <a:rPr lang="da" sz="1500">
                <a:solidFill>
                  <a:srgbClr val="666666"/>
                </a:solidFill>
              </a:rPr>
              <a:t>Ved en systematisk gennemgang af flere vurderinger kan man identificere de største problemer på et site. </a:t>
            </a:r>
            <a:endParaRPr sz="1500">
              <a:solidFill>
                <a:srgbClr val="666666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Char char="●"/>
            </a:pPr>
            <a:r>
              <a:rPr lang="da" sz="1500">
                <a:solidFill>
                  <a:srgbClr val="666666"/>
                </a:solidFill>
              </a:rPr>
              <a:t>Når man arbejder med at identificere problemer ved brugergrænseflader kan man bruge Jakob Nielsens 10 heuristikker.</a:t>
            </a:r>
            <a:endParaRPr sz="150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550" y="1388774"/>
            <a:ext cx="4044150" cy="27615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197550" y="4436025"/>
            <a:ext cx="612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u="sng">
                <a:solidFill>
                  <a:schemeClr val="hlink"/>
                </a:solidFill>
                <a:hlinkClick r:id="rId4"/>
              </a:rPr>
              <a:t>Billede ref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311700" y="709200"/>
            <a:ext cx="3707700" cy="3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dirty="0">
                <a:latin typeface="Bree Serif"/>
                <a:ea typeface="Bree Serif"/>
                <a:cs typeface="Bree Serif"/>
                <a:sym typeface="Bree Serif"/>
              </a:rPr>
              <a:t>5 sek. test</a:t>
            </a:r>
            <a:endParaRPr sz="1500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da" sz="1500" dirty="0">
                <a:solidFill>
                  <a:srgbClr val="666666"/>
                </a:solidFill>
              </a:rPr>
              <a:t>En bruger får 5 sekunder til at se et site, og skal herefter genfortælle hvad personen husker.</a:t>
            </a:r>
            <a:endParaRPr dirty="0"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4769725" y="645100"/>
            <a:ext cx="3371400" cy="13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dirty="0">
                <a:latin typeface="Bree Serif"/>
                <a:ea typeface="Bree Serif"/>
                <a:cs typeface="Bree Serif"/>
                <a:sym typeface="Bree Serif"/>
              </a:rPr>
              <a:t>Likert-skala</a:t>
            </a:r>
            <a:endParaRPr sz="1500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da" sz="1500" dirty="0">
                <a:solidFill>
                  <a:srgbClr val="666666"/>
                </a:solidFill>
                <a:sym typeface="Bree Serif"/>
              </a:rPr>
              <a:t>Tilfredshed, hvor enig eller uenig er du, med dette udsagn.</a:t>
            </a:r>
            <a:endParaRPr sz="1500" dirty="0">
              <a:solidFill>
                <a:srgbClr val="666666"/>
              </a:solidFill>
              <a:sym typeface="Bree Serif"/>
            </a:endParaRPr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000" y="2304275"/>
            <a:ext cx="3416535" cy="227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 txBox="1"/>
          <p:nvPr/>
        </p:nvSpPr>
        <p:spPr>
          <a:xfrm>
            <a:off x="311700" y="4544600"/>
            <a:ext cx="612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colorbox</a:t>
            </a:r>
            <a:endParaRPr/>
          </a:p>
        </p:txBody>
      </p:sp>
      <p:pic>
        <p:nvPicPr>
          <p:cNvPr id="3" name="Billede 2" descr="Et billede, der indeholder tekst, skærmbillede, nummer/tal, Font/skrifttype&#10;&#10;Automatisk genereret beskrivelse">
            <a:extLst>
              <a:ext uri="{FF2B5EF4-FFF2-40B4-BE49-F238E27FC236}">
                <a16:creationId xmlns:a16="http://schemas.microsoft.com/office/drawing/2014/main" id="{1149C9E7-07F3-424F-1AB5-0626A7B6A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211" y="2059500"/>
            <a:ext cx="4354913" cy="1576388"/>
          </a:xfrm>
          <a:prstGeom prst="rect">
            <a:avLst/>
          </a:prstGeom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CEADE12B-5AC5-054C-A1D7-470E021A3D34}"/>
              </a:ext>
            </a:extLst>
          </p:cNvPr>
          <p:cNvSpPr txBox="1"/>
          <p:nvPr/>
        </p:nvSpPr>
        <p:spPr>
          <a:xfrm>
            <a:off x="5443537" y="3613390"/>
            <a:ext cx="29476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900" b="0" i="1" dirty="0">
                <a:solidFill>
                  <a:srgbClr val="555555"/>
                </a:solidFill>
                <a:effectLst/>
                <a:latin typeface="+mn-lt"/>
              </a:rPr>
              <a:t>Eksempler på 5-punkts </a:t>
            </a:r>
            <a:r>
              <a:rPr lang="da-DK" sz="900" b="0" i="1" dirty="0" err="1">
                <a:solidFill>
                  <a:srgbClr val="555555"/>
                </a:solidFill>
                <a:effectLst/>
                <a:latin typeface="+mn-lt"/>
              </a:rPr>
              <a:t>Likert</a:t>
            </a:r>
            <a:r>
              <a:rPr lang="da-DK" sz="900" b="0" i="1" dirty="0">
                <a:solidFill>
                  <a:srgbClr val="555555"/>
                </a:solidFill>
                <a:effectLst/>
                <a:latin typeface="+mn-lt"/>
              </a:rPr>
              <a:t>-skala | Billede: </a:t>
            </a:r>
            <a:r>
              <a:rPr lang="da-DK" sz="900" b="0" i="1" dirty="0" err="1">
                <a:solidFill>
                  <a:srgbClr val="555555"/>
                </a:solidFill>
                <a:effectLst/>
                <a:latin typeface="+mn-lt"/>
              </a:rPr>
              <a:t>Wpform</a:t>
            </a:r>
            <a:endParaRPr lang="da-DK" sz="900" dirty="0">
              <a:solidFill>
                <a:srgbClr val="666666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title"/>
          </p:nvPr>
        </p:nvSpPr>
        <p:spPr>
          <a:xfrm>
            <a:off x="311700" y="324300"/>
            <a:ext cx="3379800" cy="13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latin typeface="Bree Serif"/>
                <a:ea typeface="Bree Serif"/>
                <a:cs typeface="Bree Serif"/>
                <a:sym typeface="Bree Serif"/>
              </a:rPr>
              <a:t>A/B splittest</a:t>
            </a:r>
            <a:endParaRPr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666666"/>
                </a:solidFill>
              </a:rPr>
              <a:t>Man viser en A og en B side til brugerne og finder ud hvilket design der konverterer bedst.</a:t>
            </a:r>
            <a:endParaRPr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4613725" y="324300"/>
            <a:ext cx="3456900" cy="3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latin typeface="Bree Serif"/>
                <a:ea typeface="Bree Serif"/>
                <a:cs typeface="Bree Serif"/>
                <a:sym typeface="Bree Serif"/>
              </a:rPr>
              <a:t>Eye tracking</a:t>
            </a:r>
            <a:endParaRPr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666666"/>
                </a:solidFill>
              </a:rPr>
              <a:t>Ved hjælp af eye-tracing kan man måle hvordan og i hvor lang tid øjet ser indholdet på et site. </a:t>
            </a:r>
            <a:endParaRPr sz="150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>
              <a:latin typeface="Bree Serif"/>
              <a:ea typeface="Bree Serif"/>
              <a:cs typeface="Bree Serif"/>
              <a:sym typeface="Bree Serif"/>
            </a:endParaRPr>
          </a:p>
        </p:txBody>
      </p:sp>
      <p:pic>
        <p:nvPicPr>
          <p:cNvPr id="126" name="Google Shape;126;p23" descr="Split test sociale medi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64375"/>
            <a:ext cx="3931274" cy="262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/>
          <p:nvPr/>
        </p:nvSpPr>
        <p:spPr>
          <a:xfrm>
            <a:off x="311700" y="4561475"/>
            <a:ext cx="207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u="sng">
                <a:solidFill>
                  <a:schemeClr val="hlink"/>
                </a:solidFill>
                <a:hlinkClick r:id="rId4"/>
              </a:rPr>
              <a:t>Billede ref</a:t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 rotWithShape="1">
          <a:blip r:embed="rId5">
            <a:alphaModFix/>
          </a:blip>
          <a:srcRect l="21425" r="25658"/>
          <a:stretch/>
        </p:blipFill>
        <p:spPr>
          <a:xfrm>
            <a:off x="4762373" y="1864375"/>
            <a:ext cx="3550253" cy="262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4736025" y="4561475"/>
            <a:ext cx="207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u="sng">
                <a:solidFill>
                  <a:schemeClr val="hlink"/>
                </a:solidFill>
                <a:hlinkClick r:id="rId6"/>
              </a:rPr>
              <a:t>Billede ref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>
            <a:spLocks noGrp="1"/>
          </p:cNvSpPr>
          <p:nvPr>
            <p:ph type="ctrTitle"/>
          </p:nvPr>
        </p:nvSpPr>
        <p:spPr>
          <a:xfrm>
            <a:off x="311700" y="55553"/>
            <a:ext cx="8520600" cy="12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da" sz="3000">
                <a:latin typeface="Bree Serif"/>
                <a:ea typeface="Bree Serif"/>
                <a:cs typeface="Bree Serif"/>
                <a:sym typeface="Bree Serif"/>
              </a:rPr>
              <a:t>Eksempler på metoder til at få viden om brugerens adfærd;</a:t>
            </a:r>
            <a:endParaRPr sz="3000">
              <a:solidFill>
                <a:schemeClr val="accen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35" name="Google Shape;135;p24"/>
          <p:cNvSpPr txBox="1">
            <a:spLocks noGrp="1"/>
          </p:cNvSpPr>
          <p:nvPr>
            <p:ph type="subTitle" idx="1"/>
          </p:nvPr>
        </p:nvSpPr>
        <p:spPr>
          <a:xfrm>
            <a:off x="809100" y="1405850"/>
            <a:ext cx="7611300" cy="28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Observation </a:t>
            </a:r>
            <a:r>
              <a:rPr lang="da" sz="1400" u="sng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 link</a:t>
            </a:r>
            <a:endParaRPr sz="2400" b="1" dirty="0">
              <a:solidFill>
                <a:schemeClr val="accent3"/>
              </a:solidFill>
              <a:highlight>
                <a:schemeClr val="lt1"/>
              </a:highlight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Kortsortering </a:t>
            </a:r>
            <a:r>
              <a:rPr lang="da" sz="1400" u="sng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 link</a:t>
            </a:r>
            <a:endParaRPr sz="2400" b="1" dirty="0">
              <a:solidFill>
                <a:schemeClr val="accent3"/>
              </a:solidFill>
              <a:highlight>
                <a:schemeClr val="lt1"/>
              </a:highlight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Tænkehøjt test </a:t>
            </a:r>
            <a:r>
              <a:rPr lang="da" sz="1400" u="sng" dirty="0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 link</a:t>
            </a:r>
            <a:endParaRPr sz="2400" b="1" dirty="0">
              <a:solidFill>
                <a:schemeClr val="accent3"/>
              </a:solidFill>
              <a:highlight>
                <a:schemeClr val="lt1"/>
              </a:highlight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Five-act-interview </a:t>
            </a:r>
            <a:r>
              <a:rPr lang="da" sz="1400" u="sng" dirty="0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 link</a:t>
            </a:r>
            <a:endParaRPr sz="2400" b="1" dirty="0">
              <a:solidFill>
                <a:schemeClr val="accent3"/>
              </a:solidFill>
              <a:highlight>
                <a:schemeClr val="lt1"/>
              </a:highlight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Heuristisk evaluering </a:t>
            </a:r>
            <a:r>
              <a:rPr lang="da" sz="1400" u="sng" dirty="0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 link</a:t>
            </a:r>
            <a:endParaRPr sz="2400" b="1" dirty="0">
              <a:solidFill>
                <a:schemeClr val="accent3"/>
              </a:solidFill>
              <a:highlight>
                <a:schemeClr val="lt1"/>
              </a:highlight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-DK" sz="2400" b="1" dirty="0" err="1">
                <a:solidFill>
                  <a:schemeClr val="accent3"/>
                </a:solidFill>
                <a:highlight>
                  <a:schemeClr val="lt1"/>
                </a:highlight>
              </a:rPr>
              <a:t>Likert</a:t>
            </a:r>
            <a:r>
              <a:rPr lang="da-DK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-skala </a:t>
            </a:r>
            <a:r>
              <a:rPr lang="da-DK" sz="1400" u="sng" dirty="0" err="1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</a:t>
            </a:r>
            <a:r>
              <a:rPr lang="da-DK" sz="1400" u="sng" dirty="0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link</a:t>
            </a:r>
            <a:endParaRPr lang="da-DK" sz="2400" b="1" dirty="0">
              <a:solidFill>
                <a:schemeClr val="accent3"/>
              </a:solidFill>
              <a:highlight>
                <a:schemeClr val="lt1"/>
              </a:highlight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5 sek. test </a:t>
            </a:r>
            <a:r>
              <a:rPr lang="da" sz="1400" u="sng" dirty="0">
                <a:solidFill>
                  <a:schemeClr val="accent5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 link</a:t>
            </a:r>
            <a:endParaRPr sz="2400" b="1" dirty="0">
              <a:solidFill>
                <a:schemeClr val="accent3"/>
              </a:solidFill>
              <a:highlight>
                <a:schemeClr val="lt1"/>
              </a:highlight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A/B spilt test </a:t>
            </a:r>
            <a:r>
              <a:rPr lang="da" sz="1400" u="sng" dirty="0">
                <a:solidFill>
                  <a:schemeClr val="accent5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 link</a:t>
            </a:r>
            <a:endParaRPr sz="2400" b="1" dirty="0">
              <a:solidFill>
                <a:schemeClr val="accent3"/>
              </a:solidFill>
              <a:highlight>
                <a:schemeClr val="lt1"/>
              </a:highlight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Eye tracking </a:t>
            </a:r>
            <a:r>
              <a:rPr lang="da" sz="1400" u="sng" dirty="0">
                <a:solidFill>
                  <a:schemeClr val="accent5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 link</a:t>
            </a:r>
            <a:b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</a:br>
            <a:endParaRPr sz="2400" b="1" dirty="0">
              <a:solidFill>
                <a:schemeClr val="accent3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3"/>
              </a:solidFill>
              <a:highlight>
                <a:schemeClr val="lt1"/>
              </a:highlight>
            </a:endParaRPr>
          </a:p>
        </p:txBody>
      </p:sp>
      <p:sp>
        <p:nvSpPr>
          <p:cNvPr id="136" name="Google Shape;136;p24"/>
          <p:cNvSpPr txBox="1">
            <a:spLocks noGrp="1"/>
          </p:cNvSpPr>
          <p:nvPr>
            <p:ph type="subTitle" idx="1"/>
          </p:nvPr>
        </p:nvSpPr>
        <p:spPr>
          <a:xfrm>
            <a:off x="4798175" y="1405850"/>
            <a:ext cx="4034100" cy="28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" sz="2400" b="1" dirty="0" err="1">
                <a:solidFill>
                  <a:schemeClr val="accent3"/>
                </a:solidFill>
                <a:highlight>
                  <a:schemeClr val="lt1"/>
                </a:highlight>
              </a:rPr>
              <a:t>Hotjar</a:t>
            </a:r>
            <a: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 </a:t>
            </a:r>
            <a:r>
              <a:rPr lang="da" sz="1400" u="sng" dirty="0">
                <a:solidFill>
                  <a:schemeClr val="accent5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 link</a:t>
            </a:r>
            <a:endParaRPr sz="2400" b="1" dirty="0">
              <a:solidFill>
                <a:schemeClr val="accent5"/>
              </a:solidFill>
              <a:highlight>
                <a:schemeClr val="lt1"/>
              </a:highlight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da" sz="2400" b="1" strike="sngStrike" dirty="0">
                <a:solidFill>
                  <a:schemeClr val="accent3"/>
                </a:solidFill>
                <a:highlight>
                  <a:schemeClr val="lt1"/>
                </a:highlight>
              </a:rPr>
              <a:t>Google </a:t>
            </a:r>
            <a:r>
              <a:rPr lang="da" sz="2400" b="1" dirty="0" err="1">
                <a:solidFill>
                  <a:schemeClr val="accent3"/>
                </a:solidFill>
                <a:highlight>
                  <a:schemeClr val="lt1"/>
                </a:highlight>
              </a:rPr>
              <a:t>analytics</a:t>
            </a:r>
            <a:r>
              <a:rPr lang="da" sz="2400" b="1" dirty="0">
                <a:solidFill>
                  <a:schemeClr val="accent3"/>
                </a:solidFill>
                <a:highlight>
                  <a:schemeClr val="lt1"/>
                </a:highlight>
              </a:rPr>
              <a:t> </a:t>
            </a:r>
            <a:r>
              <a:rPr lang="da" sz="1400" u="sng" dirty="0">
                <a:solidFill>
                  <a:schemeClr val="accent5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 link</a:t>
            </a:r>
            <a:endParaRPr sz="1400" dirty="0"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accent3"/>
              </a:solidFill>
              <a:highlight>
                <a:schemeClr val="lt1"/>
              </a:highlight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5312075" y="4062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8" name="Google Shape;138;p24"/>
          <p:cNvCxnSpPr/>
          <p:nvPr/>
        </p:nvCxnSpPr>
        <p:spPr>
          <a:xfrm rot="-5400000">
            <a:off x="545325" y="349525"/>
            <a:ext cx="35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" name="Google Shape;139;p24"/>
          <p:cNvCxnSpPr/>
          <p:nvPr/>
        </p:nvCxnSpPr>
        <p:spPr>
          <a:xfrm>
            <a:off x="311700" y="2430856"/>
            <a:ext cx="552600" cy="8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" name="Google Shape;139;p24">
            <a:extLst>
              <a:ext uri="{FF2B5EF4-FFF2-40B4-BE49-F238E27FC236}">
                <a16:creationId xmlns:a16="http://schemas.microsoft.com/office/drawing/2014/main" id="{59BDAB64-3244-175B-0ABF-04629974D1A0}"/>
              </a:ext>
            </a:extLst>
          </p:cNvPr>
          <p:cNvCxnSpPr/>
          <p:nvPr/>
        </p:nvCxnSpPr>
        <p:spPr>
          <a:xfrm>
            <a:off x="311700" y="3897706"/>
            <a:ext cx="552600" cy="8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48E8B237D23642ABF3B402155C5AA8" ma:contentTypeVersion="4" ma:contentTypeDescription="Create a new document." ma:contentTypeScope="" ma:versionID="726446cfd23d45fb9bb57f0859215520">
  <xsd:schema xmlns:xsd="http://www.w3.org/2001/XMLSchema" xmlns:xs="http://www.w3.org/2001/XMLSchema" xmlns:p="http://schemas.microsoft.com/office/2006/metadata/properties" xmlns:ns2="10ee6f9e-d2e1-4635-880f-c613dab5d314" targetNamespace="http://schemas.microsoft.com/office/2006/metadata/properties" ma:root="true" ma:fieldsID="959992a56612f32f90f8c38f4c0f8cb3" ns2:_="">
    <xsd:import namespace="10ee6f9e-d2e1-4635-880f-c613dab5d3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ee6f9e-d2e1-4635-880f-c613dab5d3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C367E40-65B7-4E72-8420-CF6EBDFAE3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A615A70-B7E0-4016-9C14-8C7CDD33F6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ee6f9e-d2e1-4635-880f-c613dab5d3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7324EF3-13D6-4586-8E65-39C81FB55E4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503</Words>
  <Application>Microsoft Office PowerPoint</Application>
  <PresentationFormat>Skærmshow (16:9)</PresentationFormat>
  <Paragraphs>67</Paragraphs>
  <Slides>11</Slides>
  <Notes>11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11</vt:i4>
      </vt:variant>
    </vt:vector>
  </HeadingPairs>
  <TitlesOfParts>
    <vt:vector size="14" baseType="lpstr">
      <vt:lpstr>Arial</vt:lpstr>
      <vt:lpstr>Bree Serif</vt:lpstr>
      <vt:lpstr>Simple Light</vt:lpstr>
      <vt:lpstr>Introduktion  UX test</vt:lpstr>
      <vt:lpstr>PowerPoint-præsentation</vt:lpstr>
      <vt:lpstr>PowerPoint-præsentation</vt:lpstr>
      <vt:lpstr>Eksempler på metoder til at få viden om brugerens adfærd;</vt:lpstr>
      <vt:lpstr>Observations-research</vt:lpstr>
      <vt:lpstr>Kortsortering</vt:lpstr>
      <vt:lpstr>Tænke-højt test og five-act-interview</vt:lpstr>
      <vt:lpstr>heuristisk evaluering</vt:lpstr>
      <vt:lpstr>5 sek. test En bruger får 5 sekunder til at se et site, og skal herefter genfortælle hvad personen husker.</vt:lpstr>
      <vt:lpstr>A/B splittest Man viser en A og en B side til brugerne og finder ud hvilket design der konverterer bedst.</vt:lpstr>
      <vt:lpstr>Eksempler på metoder til at få viden om brugerens adfærd;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Introduktion  UX test</dc:title>
  <cp:lastModifiedBy>Mikkel Sinius Nielsen</cp:lastModifiedBy>
  <cp:revision>8</cp:revision>
  <dcterms:modified xsi:type="dcterms:W3CDTF">2024-09-27T10:45:30Z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0x010100B948E8B237D23642ABF3B402155C5AA8</vt:lpwstr>
  </property>
</Properties>
</file>